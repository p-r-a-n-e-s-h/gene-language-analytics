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7" r:id="rId3"/>
    <p:sldId id="257" r:id="rId4"/>
    <p:sldId id="269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F3CF1-B43A-4182-85AB-FDCC2B45A9DD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9B6E9-8090-4F82-9F76-90878556A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4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9B6E9-8090-4F82-9F76-90878556AE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90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0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6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2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1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6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9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2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6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7945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4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178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6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87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3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6AABB-683E-4E13-8653-2D571C68921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5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sembl.org/" TargetMode="External"/><Relationship Id="rId2" Type="http://schemas.openxmlformats.org/officeDocument/2006/relationships/hyperlink" Target="https://www.ncbi.nlm.nih.gov/genbank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urnals.plos.org/ploscompbiol/" TargetMode="External"/><Relationship Id="rId4" Type="http://schemas.openxmlformats.org/officeDocument/2006/relationships/hyperlink" Target="https://www.nature.com/n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4460-B2A0-04D8-1F78-ACF1A336F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3742" y="204019"/>
            <a:ext cx="8915399" cy="2262781"/>
          </a:xfrm>
        </p:spPr>
        <p:txBody>
          <a:bodyPr/>
          <a:lstStyle/>
          <a:p>
            <a:r>
              <a:rPr lang="en-GB" b="1" dirty="0"/>
              <a:t>INTELLIGENCE OF BIOLOGICAL SYSTEMS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6EC6C-0943-3335-3D23-4B315A683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568" y="2594617"/>
            <a:ext cx="8915399" cy="1126283"/>
          </a:xfrm>
        </p:spPr>
        <p:txBody>
          <a:bodyPr>
            <a:normAutofit/>
          </a:bodyPr>
          <a:lstStyle/>
          <a:p>
            <a:r>
              <a:rPr lang="en-GB" sz="3200" dirty="0"/>
              <a:t>GENE LANGUAGE ANALYTICS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2363C-6113-CB6F-E0DC-270E95AAD1E9}"/>
              </a:ext>
            </a:extLst>
          </p:cNvPr>
          <p:cNvSpPr txBox="1"/>
          <p:nvPr/>
        </p:nvSpPr>
        <p:spPr>
          <a:xfrm>
            <a:off x="5781368" y="427619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1.ABDUL AZHAR                     - CB.SC.U4AIE24301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2.DEEPAK PRABHU.R             -  CB.SC.U4AIE24312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3.PRANESH.M                          - CB.SC.U4AIE24345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4.SANDHIYA.D                         - CB.SC.U4AIE24353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C1855-62A2-F948-942D-508E2860D507}"/>
              </a:ext>
            </a:extLst>
          </p:cNvPr>
          <p:cNvSpPr txBox="1"/>
          <p:nvPr/>
        </p:nvSpPr>
        <p:spPr>
          <a:xfrm>
            <a:off x="5781368" y="3720900"/>
            <a:ext cx="22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Rockwell (Body)"/>
              </a:rPr>
              <a:t> </a:t>
            </a:r>
            <a:r>
              <a:rPr lang="en-GB" sz="24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DONE BY :</a:t>
            </a:r>
          </a:p>
        </p:txBody>
      </p:sp>
    </p:spTree>
    <p:extLst>
      <p:ext uri="{BB962C8B-B14F-4D97-AF65-F5344CB8AC3E}">
        <p14:creationId xmlns:p14="http://schemas.microsoft.com/office/powerpoint/2010/main" val="317318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D613-4818-1C55-1269-8347AE4C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25AB-CA10-5DB3-5976-7FCE623F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1.INTRODUCTION</a:t>
            </a:r>
          </a:p>
          <a:p>
            <a:r>
              <a:rPr lang="en-GB" sz="2000" dirty="0"/>
              <a:t>2.LITERATURE REVIEW</a:t>
            </a:r>
          </a:p>
          <a:p>
            <a:r>
              <a:rPr lang="en-GB" sz="2000" dirty="0"/>
              <a:t>3.PROBLEM STATEMENT</a:t>
            </a:r>
          </a:p>
          <a:p>
            <a:r>
              <a:rPr lang="en-GB" sz="2000" dirty="0"/>
              <a:t>4.OBJECTIVES</a:t>
            </a:r>
          </a:p>
          <a:p>
            <a:r>
              <a:rPr lang="en-GB" sz="2000" dirty="0"/>
              <a:t>5.METHODOLOGY</a:t>
            </a:r>
          </a:p>
          <a:p>
            <a:r>
              <a:rPr lang="en-GB" sz="2000" dirty="0"/>
              <a:t>6.EXPECTED RESULTS</a:t>
            </a:r>
          </a:p>
          <a:p>
            <a:r>
              <a:rPr lang="en-GB" sz="2000" dirty="0"/>
              <a:t>7.APPLICATIONS</a:t>
            </a:r>
          </a:p>
          <a:p>
            <a:r>
              <a:rPr lang="en-GB" sz="2000" dirty="0"/>
              <a:t>8.REFERENCES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237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E04B-D2E3-3C70-172C-913BA991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B3C58-9C79-F378-C9BD-10B9EB841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Genes are the fundamental language of life.</a:t>
            </a:r>
          </a:p>
          <a:p>
            <a:r>
              <a:rPr lang="en-GB" dirty="0"/>
              <a:t>DNA/RNA sequences can be viewed as </a:t>
            </a:r>
            <a:r>
              <a:rPr lang="en-GB" i="1" dirty="0"/>
              <a:t>text</a:t>
            </a:r>
            <a:r>
              <a:rPr lang="en-GB" dirty="0"/>
              <a:t>, where </a:t>
            </a:r>
            <a:r>
              <a:rPr lang="en-GB" b="1" dirty="0"/>
              <a:t>nucleotides</a:t>
            </a:r>
            <a:r>
              <a:rPr lang="en-GB" dirty="0"/>
              <a:t> are letters and </a:t>
            </a:r>
            <a:r>
              <a:rPr lang="en-GB" b="1" dirty="0"/>
              <a:t>codons </a:t>
            </a:r>
            <a:r>
              <a:rPr lang="en-GB" dirty="0"/>
              <a:t>are words.</a:t>
            </a:r>
          </a:p>
          <a:p>
            <a:r>
              <a:rPr lang="en-GB" dirty="0"/>
              <a:t>Gene Language Analytics applies </a:t>
            </a:r>
            <a:r>
              <a:rPr lang="en-GB" i="1" dirty="0"/>
              <a:t>linguistic and AI methods</a:t>
            </a:r>
            <a:r>
              <a:rPr lang="en-GB" dirty="0"/>
              <a:t> to analyze biological sequences.</a:t>
            </a:r>
          </a:p>
          <a:p>
            <a:r>
              <a:rPr lang="en-GB" dirty="0"/>
              <a:t>Subdomain of </a:t>
            </a:r>
            <a:r>
              <a:rPr lang="en-GB" b="1" dirty="0"/>
              <a:t>Intelligence of Biological Systems (IBS)</a:t>
            </a:r>
            <a:r>
              <a:rPr lang="en-GB" dirty="0"/>
              <a:t> → focuses on </a:t>
            </a:r>
            <a:r>
              <a:rPr lang="en-GB" b="1" dirty="0"/>
              <a:t>genetic information processing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4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1A4A-DAF6-CC82-FBC9-EA1B5266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A0E6-F27E-ECBC-57BA-B1730582A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25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93F0-3B2A-D78A-CABF-11C0B5AE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1CCF4C-7949-2693-EDE8-F13B2F44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828800"/>
            <a:ext cx="8915400" cy="3777622"/>
          </a:xfrm>
        </p:spPr>
        <p:txBody>
          <a:bodyPr>
            <a:no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Biological data (</a:t>
            </a: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genomes</a:t>
            </a:r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) is massive and complex.</a:t>
            </a:r>
            <a:endParaRPr lang="en-GB" dirty="0"/>
          </a:p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Traditional biology struggles to capture </a:t>
            </a: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hidden patterns in genetic code.</a:t>
            </a:r>
            <a:endParaRPr lang="en-GB" dirty="0"/>
          </a:p>
          <a:p>
            <a:r>
              <a:rPr lang="en-GB" dirty="0"/>
              <a:t>Need a way to </a:t>
            </a:r>
            <a:r>
              <a:rPr lang="en-GB" b="1" dirty="0"/>
              <a:t>decode genetic information like a language</a:t>
            </a:r>
            <a:r>
              <a:rPr lang="en-GB" dirty="0"/>
              <a:t> → to detect mutations(non-trivial), understand gene function, and study evolution.</a:t>
            </a:r>
          </a:p>
          <a:p>
            <a:r>
              <a:rPr lang="en-GB" b="1" dirty="0"/>
              <a:t>Mutations and variations</a:t>
            </a:r>
            <a:r>
              <a:rPr lang="en-GB" dirty="0"/>
              <a:t> in DNA can be subtle (like a single-letter typo) but lead to serious diseases (e.g., cancer, genetic disorders). </a:t>
            </a:r>
          </a:p>
          <a:p>
            <a:r>
              <a:rPr lang="en-GB" b="1" dirty="0"/>
              <a:t>Information encoding in genes</a:t>
            </a:r>
            <a:r>
              <a:rPr lang="en-GB" dirty="0"/>
              <a:t> is not fully understood; we know codons → proteins, but the deeper "grammar" of how sequences regulate function is still a challenge.</a:t>
            </a:r>
          </a:p>
          <a:p>
            <a:r>
              <a:rPr lang="en-GB" dirty="0"/>
              <a:t>Thus, there is a </a:t>
            </a:r>
            <a:r>
              <a:rPr lang="en-GB" b="1" dirty="0"/>
              <a:t>need to bridge biology and AI/NLP</a:t>
            </a:r>
            <a:r>
              <a:rPr lang="en-GB" dirty="0"/>
              <a:t> so that genetic code can be treated like a language for better understanding, prediction, and disease detection.</a:t>
            </a:r>
          </a:p>
          <a:p>
            <a:endParaRPr lang="en-GB" dirty="0"/>
          </a:p>
          <a:p>
            <a:endParaRPr lang="en-GB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68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1582-37CA-19D3-CA9B-5AC83B0B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FD7C3B-DEC0-6694-FDE3-E1A3E084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81316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US" dirty="0"/>
              <a:t>Treat genetic code as a </a:t>
            </a:r>
            <a:r>
              <a:rPr lang="en-US" b="1" i="1" dirty="0"/>
              <a:t>language of life</a:t>
            </a:r>
            <a:r>
              <a:rPr lang="en-US" dirty="0"/>
              <a:t>.</a:t>
            </a:r>
          </a:p>
          <a:p>
            <a:r>
              <a:rPr lang="en-US" dirty="0"/>
              <a:t>Perform </a:t>
            </a:r>
            <a:r>
              <a:rPr lang="en-US" b="1" dirty="0"/>
              <a:t>sequence analytics </a:t>
            </a:r>
            <a:r>
              <a:rPr lang="en-US" dirty="0"/>
              <a:t>(ATGC counts, codon usage, entropy).</a:t>
            </a:r>
          </a:p>
          <a:p>
            <a:r>
              <a:rPr lang="en-US" dirty="0"/>
              <a:t>Identify recurring patterns/motifs.</a:t>
            </a:r>
          </a:p>
          <a:p>
            <a:r>
              <a:rPr lang="en-US" dirty="0"/>
              <a:t>Apply </a:t>
            </a:r>
            <a:r>
              <a:rPr lang="en-US" b="1" dirty="0"/>
              <a:t>NLP-inspired models </a:t>
            </a:r>
            <a:r>
              <a:rPr lang="en-US" dirty="0"/>
              <a:t>(n-grams, Markov chains).</a:t>
            </a:r>
          </a:p>
          <a:p>
            <a:r>
              <a:rPr lang="en-US" dirty="0"/>
              <a:t>Demonstrate simple predictive analysis.</a:t>
            </a:r>
          </a:p>
          <a:p>
            <a:r>
              <a:rPr lang="en-US" dirty="0"/>
              <a:t>Explore applications in biology &amp; AI.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2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8DA7-63B2-DED8-7BDD-F279D07D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477" y="427464"/>
            <a:ext cx="8911687" cy="1280890"/>
          </a:xfrm>
        </p:spPr>
        <p:txBody>
          <a:bodyPr/>
          <a:lstStyle/>
          <a:p>
            <a:r>
              <a:rPr lang="en-GB" dirty="0"/>
              <a:t>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27BC1-9350-A687-3AFD-35720D2BD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477" y="1584674"/>
            <a:ext cx="8915400" cy="4304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1. Data Collection</a:t>
            </a:r>
          </a:p>
          <a:p>
            <a:r>
              <a:rPr lang="en-GB" dirty="0">
                <a:solidFill>
                  <a:schemeClr val="tx1"/>
                </a:solidFill>
              </a:rPr>
              <a:t>Download DNA sequences from </a:t>
            </a:r>
            <a:r>
              <a:rPr lang="en-GB" b="1" dirty="0">
                <a:solidFill>
                  <a:schemeClr val="tx1"/>
                </a:solidFill>
              </a:rPr>
              <a:t>NCBI/GenBank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r>
              <a:rPr lang="en-GB" dirty="0">
                <a:solidFill>
                  <a:schemeClr val="tx1"/>
                </a:solidFill>
              </a:rPr>
              <a:t>Choose specific genes or small genome segments.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</a:rPr>
              <a:t>2. Preprocessing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Represent DNA as a string of nucleotides (A, T, G, C).</a:t>
            </a:r>
          </a:p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Segment into </a:t>
            </a: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codons (3-base units)</a:t>
            </a:r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 for analysis.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3. Sequence Analysis</a:t>
            </a:r>
          </a:p>
          <a:p>
            <a:r>
              <a:rPr lang="en-GB" dirty="0"/>
              <a:t>Count nucleotide frequencies (A/T/G/C).</a:t>
            </a:r>
          </a:p>
          <a:p>
            <a:r>
              <a:rPr lang="en-US" dirty="0"/>
              <a:t>Compute </a:t>
            </a:r>
            <a:r>
              <a:rPr lang="en-US" b="1" dirty="0"/>
              <a:t>codon usage bias</a:t>
            </a:r>
            <a:r>
              <a:rPr lang="en-US" dirty="0"/>
              <a:t>.</a:t>
            </a:r>
          </a:p>
          <a:p>
            <a:r>
              <a:rPr lang="en-GB" dirty="0"/>
              <a:t>Measure </a:t>
            </a:r>
            <a:r>
              <a:rPr lang="en-GB" b="1" dirty="0"/>
              <a:t>Shannon entropy</a:t>
            </a:r>
            <a:r>
              <a:rPr lang="en-GB" dirty="0"/>
              <a:t> (order vs randomness).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11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B95E0-8B86-5241-A106-636A63482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1866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altLang="en-US" b="1" dirty="0">
                <a:solidFill>
                  <a:schemeClr val="tx1"/>
                </a:solidFill>
                <a:latin typeface="Century Gothic (Body)"/>
              </a:rPr>
              <a:t>4. Pattern and Motif Detection</a:t>
            </a:r>
          </a:p>
          <a:p>
            <a:r>
              <a:rPr lang="en-GB" dirty="0"/>
              <a:t>Identify recurring subsequences (like linguistic “grammar”).</a:t>
            </a:r>
          </a:p>
          <a:p>
            <a:r>
              <a:rPr lang="en-US" dirty="0"/>
              <a:t>Compare motif positions across sequences.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/>
              <a:t>5. NLP-inspired Modeling</a:t>
            </a:r>
            <a:endParaRPr lang="en-GB" dirty="0"/>
          </a:p>
          <a:p>
            <a:r>
              <a:rPr lang="en-GB" b="1" dirty="0"/>
              <a:t>N-grams</a:t>
            </a:r>
            <a:r>
              <a:rPr lang="en-GB" dirty="0"/>
              <a:t>: capture local sequence dependencies.</a:t>
            </a:r>
          </a:p>
          <a:p>
            <a:r>
              <a:rPr lang="en-GB" b="1" dirty="0"/>
              <a:t>Markov chains</a:t>
            </a:r>
            <a:r>
              <a:rPr lang="en-GB" dirty="0"/>
              <a:t>: model probability of next base.</a:t>
            </a:r>
          </a:p>
          <a:p>
            <a:r>
              <a:rPr lang="en-GB" dirty="0"/>
              <a:t>Explore embeddings for codon similarity.</a:t>
            </a:r>
          </a:p>
          <a:p>
            <a:pPr marL="0" indent="0">
              <a:buNone/>
            </a:pPr>
            <a:r>
              <a:rPr lang="en-GB" b="1" dirty="0"/>
              <a:t>6. Demonstration / Validation</a:t>
            </a:r>
            <a:endParaRPr lang="en-GB" dirty="0"/>
          </a:p>
          <a:p>
            <a:r>
              <a:rPr lang="en-GB" dirty="0"/>
              <a:t>Run a small </a:t>
            </a:r>
            <a:r>
              <a:rPr lang="en-GB" b="1" dirty="0"/>
              <a:t>Python script</a:t>
            </a:r>
            <a:r>
              <a:rPr lang="en-GB" dirty="0"/>
              <a:t> to predict next nucleotide.</a:t>
            </a:r>
          </a:p>
          <a:p>
            <a:r>
              <a:rPr lang="en-GB" dirty="0"/>
              <a:t>Visualize results with graphs (frequency, codon distribution).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11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2D68-7992-81B9-62B5-A9B34F0C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9E36-50B2-CFF0-B247-D9118CB57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5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594E-E97D-A1B1-C271-73C7A6CF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FB4D7-DFA7-48B2-013D-AB9F88424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081980"/>
            <a:ext cx="8915400" cy="3777622"/>
          </a:xfrm>
        </p:spPr>
        <p:txBody>
          <a:bodyPr/>
          <a:lstStyle/>
          <a:p>
            <a:r>
              <a:rPr lang="en-US" b="1" dirty="0"/>
              <a:t>Medical Genomics</a:t>
            </a:r>
            <a:r>
              <a:rPr lang="en-US" dirty="0"/>
              <a:t> – Detect mutations linked to genetic disorders &amp; cancer.</a:t>
            </a:r>
          </a:p>
          <a:p>
            <a:r>
              <a:rPr lang="en-US" b="1" dirty="0"/>
              <a:t>Drug Discovery</a:t>
            </a:r>
            <a:r>
              <a:rPr lang="en-US" dirty="0"/>
              <a:t> – Identify target genes &amp; protein pathways.</a:t>
            </a:r>
          </a:p>
          <a:p>
            <a:r>
              <a:rPr lang="en-US" b="1" dirty="0"/>
              <a:t>Evolutionary Biology</a:t>
            </a:r>
            <a:r>
              <a:rPr lang="en-US" dirty="0"/>
              <a:t> – Compare codon usage across species.</a:t>
            </a:r>
          </a:p>
          <a:p>
            <a:r>
              <a:rPr lang="en-US" b="1" dirty="0"/>
              <a:t>Synthetic Biology</a:t>
            </a:r>
            <a:r>
              <a:rPr lang="en-US" dirty="0"/>
              <a:t> – Design artificial gene sequences for research.</a:t>
            </a:r>
          </a:p>
          <a:p>
            <a:r>
              <a:rPr lang="en-US" b="1" dirty="0"/>
              <a:t>Bioinformatics Tools</a:t>
            </a:r>
            <a:r>
              <a:rPr lang="en-US" dirty="0"/>
              <a:t> – Enhance gene prediction &amp; annotation.</a:t>
            </a:r>
          </a:p>
          <a:p>
            <a:r>
              <a:rPr lang="en-US" b="1" dirty="0"/>
              <a:t>AI-Biology Integration</a:t>
            </a:r>
            <a:r>
              <a:rPr lang="en-US" dirty="0"/>
              <a:t> – Apply NLP/ML models to genomic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39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C7A6-B137-2E25-27DB-EA1959CE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E984-2F1C-3AD1-AFA6-2B303504A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Genes behave like a </a:t>
            </a:r>
            <a:r>
              <a:rPr lang="en-GB" b="1" dirty="0"/>
              <a:t>biological language</a:t>
            </a:r>
            <a:r>
              <a:rPr lang="en-GB" dirty="0"/>
              <a:t>, with letters (ATGC), words (codons), and sentences (proteins).</a:t>
            </a:r>
          </a:p>
          <a:p>
            <a:r>
              <a:rPr lang="en-GB" b="1" dirty="0"/>
              <a:t>Gene Language Analytics</a:t>
            </a:r>
            <a:r>
              <a:rPr lang="en-GB" dirty="0"/>
              <a:t> uncovers patterns, structure, and predictive power in DNA.</a:t>
            </a:r>
          </a:p>
          <a:p>
            <a:r>
              <a:rPr lang="en-GB" dirty="0"/>
              <a:t>Acts as a </a:t>
            </a:r>
            <a:r>
              <a:rPr lang="en-GB" b="1" dirty="0"/>
              <a:t>subdomain of IBS</a:t>
            </a:r>
            <a:r>
              <a:rPr lang="en-GB" dirty="0"/>
              <a:t>, highlighting genetic information as a form of intelligence.</a:t>
            </a:r>
          </a:p>
          <a:p>
            <a:r>
              <a:rPr lang="en-GB" dirty="0"/>
              <a:t>Bridges </a:t>
            </a:r>
            <a:r>
              <a:rPr lang="en-GB" b="1" dirty="0"/>
              <a:t>biology and computational intelligence</a:t>
            </a:r>
            <a:r>
              <a:rPr lang="en-GB" dirty="0"/>
              <a:t>, for medicine, evolution, and AI-driven discoveries.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5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8BBA-D36F-4FFD-4B3C-3DE03757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C825-9BCE-CD5D-2298-2343E732E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https://www.ncbi.nlm.nih.gov/genbank/</a:t>
            </a:r>
            <a:endParaRPr lang="en-US" dirty="0"/>
          </a:p>
          <a:p>
            <a:r>
              <a:rPr lang="en-US" dirty="0">
                <a:hlinkClick r:id="rId3"/>
              </a:rPr>
              <a:t>https://www.ensembl.org</a:t>
            </a:r>
            <a:endParaRPr lang="en-US" dirty="0"/>
          </a:p>
          <a:p>
            <a:r>
              <a:rPr lang="en-US" dirty="0">
                <a:hlinkClick r:id="rId4"/>
              </a:rPr>
              <a:t>https://www.nature.com/ng/</a:t>
            </a:r>
            <a:endParaRPr lang="en-US" dirty="0"/>
          </a:p>
          <a:p>
            <a:r>
              <a:rPr lang="en-US" dirty="0">
                <a:hlinkClick r:id="rId5"/>
              </a:rPr>
              <a:t>https://journals.plos.org/ploscompbiol/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5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B6E7-676D-7009-6B4B-B5BA6603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972" y="2788555"/>
            <a:ext cx="3680056" cy="1280890"/>
          </a:xfrm>
        </p:spPr>
        <p:txBody>
          <a:bodyPr>
            <a:normAutofit fontScale="90000"/>
          </a:bodyPr>
          <a:lstStyle/>
          <a:p>
            <a:r>
              <a:rPr lang="en-GB" sz="5000" dirty="0"/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7145669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</TotalTime>
  <Words>661</Words>
  <Application>Microsoft Office PowerPoint</Application>
  <PresentationFormat>Widescreen</PresentationFormat>
  <Paragraphs>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Century Gothic</vt:lpstr>
      <vt:lpstr>Century Gothic (Body)</vt:lpstr>
      <vt:lpstr>Rockwell (Body)</vt:lpstr>
      <vt:lpstr>Wingdings 3</vt:lpstr>
      <vt:lpstr>Wisp</vt:lpstr>
      <vt:lpstr>INTELLIGENCE OF BIOLOGICAL SYSTEMS</vt:lpstr>
      <vt:lpstr>INDEX</vt:lpstr>
      <vt:lpstr>INTRODUCTION</vt:lpstr>
      <vt:lpstr>LITERATURE REVIEW</vt:lpstr>
      <vt:lpstr>PROBLEM STATEMENT</vt:lpstr>
      <vt:lpstr>OBJECTIVES</vt:lpstr>
      <vt:lpstr>METHODOLOGY</vt:lpstr>
      <vt:lpstr>PowerPoint Presentation</vt:lpstr>
      <vt:lpstr>EXPECTED RESULTS</vt:lpstr>
      <vt:lpstr>APPLICATIONS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dharmalingam</dc:creator>
  <cp:lastModifiedBy>sandhiya dharmalingam</cp:lastModifiedBy>
  <cp:revision>1</cp:revision>
  <dcterms:created xsi:type="dcterms:W3CDTF">2025-08-22T14:38:57Z</dcterms:created>
  <dcterms:modified xsi:type="dcterms:W3CDTF">2025-08-22T15:34:44Z</dcterms:modified>
</cp:coreProperties>
</file>